
<file path=[Content_Types].xml><?xml version="1.0" encoding="utf-8"?>
<ns0:Types xmlns:ns0="http://schemas.openxmlformats.org/package/2006/content-types">
  <ns0:Default Extension="png" ContentType="image/png"/>
  <ns0:Default Extension="jpeg" ContentType="image/jpeg"/>
  <ns0:Default Extension="rels" ContentType="application/vnd.openxmlformats-package.relationships+xml"/>
  <ns0:Default Extension="xml" ContentType="application/xml"/>
  <ns0:Default Extension="wdp" ContentType="image/vnd.ms-photo"/>
  <ns0:Default Extension="jpg" ContentType="image/jpeg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notesMasters/notesMaster1.xml" ContentType="application/vnd.openxmlformats-officedocument.presentationml.notes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theme/theme2.xml" ContentType="application/vnd.openxmlformats-officedocument.theme+xml"/>
  <ns0:Override PartName="/ppt/tags/tag1.xml" ContentType="application/vnd.openxmlformats-officedocument.presentationml.tags+xml"/>
  <ns0:Override PartName="/ppt/notesSlides/notesSlide1.xml" ContentType="application/vnd.openxmlformats-officedocument.presentationml.notesSlid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>
  <p:sldMasterIdLst>
    <p:sldMasterId id="2147483678" r:id="rId1"/>
  </p:sldMasterIdLst>
  <p:notesMasterIdLst>
    <p:notesMasterId r:id="rId13"/>
  </p:notesMasterIdLst>
  <p:sldIdLst>
    <p:sldId id="865" r:id="rId2"/>
    <p:sldId id="866" r:id="rId3"/>
    <p:sldId id="867" r:id="rId4"/>
    <p:sldId id="868" r:id="rId5"/>
    <p:sldId id="869" r:id="rId6"/>
    <p:sldId id="870" r:id="rId7"/>
    <p:sldId id="871" r:id="rId8"/>
    <p:sldId id="872" r:id="rId9"/>
    <p:sldId id="873" r:id="rId10"/>
    <p:sldId id="874" r:id="rId11"/>
    <p:sldId id="875" r:id="rId12"/>
    <p:sldId id="876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>
        <ns3:guide id="1" pos="415" userDrawn="1">
          <ns3:clr>
            <a:srgbClr val="A4A3A4"/>
          </ns3:clr>
        </ns3:guide>
        <ns3:guide id="2" pos="7256" userDrawn="1">
          <ns3:clr>
            <a:srgbClr val="A4A3A4"/>
          </ns3:clr>
        </ns3:guide>
        <ns3:guide id="3" orient="horz" pos="663" userDrawn="1">
          <ns3:clr>
            <a:srgbClr val="A4A3A4"/>
          </ns3:clr>
        </ns3:guide>
        <ns3:guide id="4" orient="horz" pos="712" userDrawn="1">
          <ns3:clr>
            <a:srgbClr val="A4A3A4"/>
          </ns3:clr>
        </ns3:guide>
        <ns3:guide id="5" orient="horz" pos="3928" userDrawn="1">
          <ns3:clr>
            <a:srgbClr val="A4A3A4"/>
          </ns3:clr>
        </ns3:guide>
        <ns3:guide id="6" orient="horz" pos="3861" userDrawn="1">
          <ns3:clr>
            <a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9BD4"/>
    <a:srgbClr val="00539E"/>
    <a:srgbClr val="89DFFD"/>
    <a:srgbClr val="FFFFFF"/>
    <a:srgbClr val="00467F"/>
    <a:srgbClr val="64A3D7"/>
    <a:srgbClr val="2F5597"/>
    <a:srgbClr val="C5D2FB"/>
    <a:srgbClr val="2E5497"/>
    <a:srgbClr val="EAF2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中度样式 3 - 强调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95" autoAdjust="0"/>
    <p:restoredTop sz="82339" autoAdjust="0"/>
  </p:normalViewPr>
  <p:slideViewPr>
    <p:cSldViewPr snapToGrid="0">
      <p:cViewPr>
        <p:scale>
          <a:sx n="50" d="100"/>
          <a:sy n="50" d="100"/>
        </p:scale>
        <p:origin x="1176" y="504"/>
      </p:cViewPr>
      <p:guideLst>
        <p:guide pos="415"/>
        <p:guide pos="7256"/>
        <p:guide orient="horz" pos="663"/>
        <p:guide orient="horz" pos="712"/>
        <p:guide orient="horz" pos="3928"/>
        <p:guide orient="horz" pos="386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?>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notesMaster" Target="notesMasters/notesMaster1.xml" /><Relationship Id="rId15" Type="http://schemas.openxmlformats.org/officeDocument/2006/relationships/presProps" Target="presProps.xml" /><Relationship Id="rId16" Type="http://schemas.openxmlformats.org/officeDocument/2006/relationships/viewProps" Target="viewProps.xml" /><Relationship Id="rId17" Type="http://schemas.openxmlformats.org/officeDocument/2006/relationships/theme" Target="theme/theme1.xml" /><Relationship Id="rId18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BB5295-0690-45DE-9E01-B4636744B25F}" type="datetimeFigureOut">
              <a:rPr lang="zh-CN" altLang="en-US" smtClean="0"/>
              <a:t>2021/9/7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413C37-BE2C-4CB8-940D-F8BE2EE629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468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围绕</a:t>
            </a:r>
            <a:r>
              <a:rPr lang="en-US" altLang="zh-CN" dirty="0"/>
              <a:t>2021</a:t>
            </a:r>
            <a:r>
              <a:rPr lang="zh-CN" altLang="en-US" dirty="0"/>
              <a:t>年度的工作目标，我们已经完成了</a:t>
            </a:r>
            <a:r>
              <a:rPr lang="en-US" altLang="zh-CN" dirty="0"/>
              <a:t>80%</a:t>
            </a:r>
            <a:r>
              <a:rPr lang="zh-CN" altLang="en-US" dirty="0"/>
              <a:t>的工作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413C37-BE2C-4CB8-940D-F8BE2EE6293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7250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624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99DA1BF7-27E1-43A7-AA55-1959288202ED}"/>
              </a:ext>
            </a:extLst>
          </p:cNvPr>
          <p:cNvGrpSpPr/>
          <p:nvPr userDrawn="1"/>
        </p:nvGrpSpPr>
        <p:grpSpPr>
          <a:xfrm flipH="1" flipV="1">
            <a:off x="0" y="0"/>
            <a:ext cx="1280160" cy="685800"/>
            <a:chOff x="11489653" y="5119600"/>
            <a:chExt cx="702346" cy="1738401"/>
          </a:xfrm>
        </p:grpSpPr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79C6DE0E-2F33-411B-89DF-E40518DE3284}"/>
                </a:ext>
              </a:extLst>
            </p:cNvPr>
            <p:cNvSpPr/>
            <p:nvPr/>
          </p:nvSpPr>
          <p:spPr>
            <a:xfrm>
              <a:off x="11852771" y="6018366"/>
              <a:ext cx="339228" cy="839635"/>
            </a:xfrm>
            <a:custGeom>
              <a:avLst/>
              <a:gdLst>
                <a:gd name="connsiteX0" fmla="*/ 339228 w 339228"/>
                <a:gd name="connsiteY0" fmla="*/ 0 h 839635"/>
                <a:gd name="connsiteX1" fmla="*/ 339228 w 339228"/>
                <a:gd name="connsiteY1" fmla="*/ 839635 h 839635"/>
                <a:gd name="connsiteX2" fmla="*/ 0 w 339228"/>
                <a:gd name="connsiteY2" fmla="*/ 839635 h 839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9228" h="839635">
                  <a:moveTo>
                    <a:pt x="339228" y="0"/>
                  </a:moveTo>
                  <a:lnTo>
                    <a:pt x="339228" y="839635"/>
                  </a:lnTo>
                  <a:lnTo>
                    <a:pt x="0" y="839635"/>
                  </a:lnTo>
                  <a:close/>
                </a:path>
              </a:pathLst>
            </a:custGeom>
            <a:solidFill>
              <a:srgbClr val="005EA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思源黑体 CN Normal"/>
                <a:cs typeface="+mn-cs"/>
              </a:endParaRPr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5528EF21-8DEB-440E-B68B-BF535B0825EC}"/>
                </a:ext>
              </a:extLst>
            </p:cNvPr>
            <p:cNvSpPr/>
            <p:nvPr/>
          </p:nvSpPr>
          <p:spPr>
            <a:xfrm>
              <a:off x="11623086" y="5449864"/>
              <a:ext cx="568913" cy="1408137"/>
            </a:xfrm>
            <a:custGeom>
              <a:avLst/>
              <a:gdLst>
                <a:gd name="connsiteX0" fmla="*/ 568913 w 568913"/>
                <a:gd name="connsiteY0" fmla="*/ 0 h 1408137"/>
                <a:gd name="connsiteX1" fmla="*/ 568913 w 568913"/>
                <a:gd name="connsiteY1" fmla="*/ 643241 h 1408137"/>
                <a:gd name="connsiteX2" fmla="*/ 259881 w 568913"/>
                <a:gd name="connsiteY2" fmla="*/ 1408137 h 1408137"/>
                <a:gd name="connsiteX3" fmla="*/ 0 w 568913"/>
                <a:gd name="connsiteY3" fmla="*/ 1408137 h 140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8913" h="1408137">
                  <a:moveTo>
                    <a:pt x="568913" y="0"/>
                  </a:moveTo>
                  <a:lnTo>
                    <a:pt x="568913" y="643241"/>
                  </a:lnTo>
                  <a:lnTo>
                    <a:pt x="259881" y="1408137"/>
                  </a:lnTo>
                  <a:lnTo>
                    <a:pt x="0" y="1408137"/>
                  </a:lnTo>
                  <a:close/>
                </a:path>
              </a:pathLst>
            </a:custGeom>
            <a:solidFill>
              <a:srgbClr val="039AC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思源黑体 CN Normal"/>
                <a:cs typeface="+mn-cs"/>
              </a:endParaRPr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BB76322B-D358-4F21-B8CC-34B677478C5C}"/>
                </a:ext>
              </a:extLst>
            </p:cNvPr>
            <p:cNvSpPr/>
            <p:nvPr/>
          </p:nvSpPr>
          <p:spPr>
            <a:xfrm>
              <a:off x="11489653" y="5119600"/>
              <a:ext cx="702346" cy="1738401"/>
            </a:xfrm>
            <a:custGeom>
              <a:avLst/>
              <a:gdLst>
                <a:gd name="connsiteX0" fmla="*/ 702346 w 702346"/>
                <a:gd name="connsiteY0" fmla="*/ 0 h 1738401"/>
                <a:gd name="connsiteX1" fmla="*/ 702346 w 702346"/>
                <a:gd name="connsiteY1" fmla="*/ 428827 h 1738401"/>
                <a:gd name="connsiteX2" fmla="*/ 173254 w 702346"/>
                <a:gd name="connsiteY2" fmla="*/ 1738401 h 1738401"/>
                <a:gd name="connsiteX3" fmla="*/ 0 w 702346"/>
                <a:gd name="connsiteY3" fmla="*/ 1738401 h 1738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2346" h="1738401">
                  <a:moveTo>
                    <a:pt x="702346" y="0"/>
                  </a:moveTo>
                  <a:lnTo>
                    <a:pt x="702346" y="428827"/>
                  </a:lnTo>
                  <a:lnTo>
                    <a:pt x="173254" y="1738401"/>
                  </a:lnTo>
                  <a:lnTo>
                    <a:pt x="0" y="1738401"/>
                  </a:lnTo>
                  <a:close/>
                </a:path>
              </a:pathLst>
            </a:custGeom>
            <a:solidFill>
              <a:srgbClr val="039ACF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思源黑体 CN Normal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8454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0A10012-7DE7-4927-9338-9F6658B3ED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33919"/>
          <a:stretch/>
        </p:blipFill>
        <p:spPr>
          <a:xfrm>
            <a:off x="2737536" y="-23325"/>
            <a:ext cx="9450900" cy="6862666"/>
          </a:xfrm>
          <a:prstGeom prst="rect">
            <a:avLst/>
          </a:prstGeom>
        </p:spPr>
      </p:pic>
      <p:sp>
        <p:nvSpPr>
          <p:cNvPr id="4" name="矩形 11">
            <a:extLst>
              <a:ext uri="{FF2B5EF4-FFF2-40B4-BE49-F238E27FC236}">
                <a16:creationId xmlns:a16="http://schemas.microsoft.com/office/drawing/2014/main" id="{6D79298F-0D06-4C33-B0C8-D8D4B3C7F645}"/>
              </a:ext>
            </a:extLst>
          </p:cNvPr>
          <p:cNvSpPr/>
          <p:nvPr/>
        </p:nvSpPr>
        <p:spPr>
          <a:xfrm flipH="1">
            <a:off x="0" y="-9329"/>
            <a:ext cx="9172142" cy="6858000"/>
          </a:xfrm>
          <a:custGeom>
            <a:avLst/>
            <a:gdLst/>
            <a:ahLst/>
            <a:cxnLst/>
            <a:rect l="l" t="t" r="r" b="b"/>
            <a:pathLst>
              <a:path w="6444208" h="5143500">
                <a:moveTo>
                  <a:pt x="2078067" y="0"/>
                </a:moveTo>
                <a:lnTo>
                  <a:pt x="6444208" y="0"/>
                </a:lnTo>
                <a:lnTo>
                  <a:pt x="6444208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/>
              <a:cs typeface="+mn-cs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375712F-5EB0-48CF-9FE8-EC8503252FB1}"/>
              </a:ext>
            </a:extLst>
          </p:cNvPr>
          <p:cNvGrpSpPr/>
          <p:nvPr/>
        </p:nvGrpSpPr>
        <p:grpSpPr>
          <a:xfrm flipH="1">
            <a:off x="6096000" y="-18659"/>
            <a:ext cx="3603649" cy="6858000"/>
            <a:chOff x="1531613" y="0"/>
            <a:chExt cx="3375826" cy="6858000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15D3B33A-F02C-4656-AAD3-5B0BE0C5F2E8}"/>
                </a:ext>
              </a:extLst>
            </p:cNvPr>
            <p:cNvSpPr/>
            <p:nvPr/>
          </p:nvSpPr>
          <p:spPr>
            <a:xfrm>
              <a:off x="1761297" y="0"/>
              <a:ext cx="3146142" cy="6858000"/>
            </a:xfrm>
            <a:custGeom>
              <a:avLst/>
              <a:gdLst>
                <a:gd name="connsiteX0" fmla="*/ 2770756 w 3146142"/>
                <a:gd name="connsiteY0" fmla="*/ 0 h 6858000"/>
                <a:gd name="connsiteX1" fmla="*/ 3146142 w 3146142"/>
                <a:gd name="connsiteY1" fmla="*/ 0 h 6858000"/>
                <a:gd name="connsiteX2" fmla="*/ 375386 w 3146142"/>
                <a:gd name="connsiteY2" fmla="*/ 6858000 h 6858000"/>
                <a:gd name="connsiteX3" fmla="*/ 0 w 3146142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6142" h="6858000">
                  <a:moveTo>
                    <a:pt x="2770756" y="0"/>
                  </a:moveTo>
                  <a:lnTo>
                    <a:pt x="3146142" y="0"/>
                  </a:lnTo>
                  <a:lnTo>
                    <a:pt x="375386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05EA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cs typeface="+mn-cs"/>
              </a:endParaRPr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BD1839CB-583C-4271-B060-782D5A68F403}"/>
                </a:ext>
              </a:extLst>
            </p:cNvPr>
            <p:cNvSpPr/>
            <p:nvPr/>
          </p:nvSpPr>
          <p:spPr>
            <a:xfrm>
              <a:off x="1531613" y="0"/>
              <a:ext cx="3030637" cy="6858000"/>
            </a:xfrm>
            <a:custGeom>
              <a:avLst/>
              <a:gdLst>
                <a:gd name="connsiteX0" fmla="*/ 2770756 w 3030637"/>
                <a:gd name="connsiteY0" fmla="*/ 0 h 6858000"/>
                <a:gd name="connsiteX1" fmla="*/ 3030637 w 3030637"/>
                <a:gd name="connsiteY1" fmla="*/ 0 h 6858000"/>
                <a:gd name="connsiteX2" fmla="*/ 259881 w 3030637"/>
                <a:gd name="connsiteY2" fmla="*/ 6858000 h 6858000"/>
                <a:gd name="connsiteX3" fmla="*/ 0 w 3030637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0637" h="6858000">
                  <a:moveTo>
                    <a:pt x="2770756" y="0"/>
                  </a:moveTo>
                  <a:lnTo>
                    <a:pt x="3030637" y="0"/>
                  </a:lnTo>
                  <a:lnTo>
                    <a:pt x="259881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39AC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0911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A0C902C-3FF8-4FA4-A1C6-DFF8957E42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433" b="25926"/>
          <a:stretch/>
        </p:blipFill>
        <p:spPr>
          <a:xfrm>
            <a:off x="0" y="0"/>
            <a:ext cx="9921730" cy="6909263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13EC86AA-D47E-4A88-A781-07F144E3A418}"/>
              </a:ext>
            </a:extLst>
          </p:cNvPr>
          <p:cNvSpPr/>
          <p:nvPr userDrawn="1"/>
        </p:nvSpPr>
        <p:spPr>
          <a:xfrm>
            <a:off x="0" y="0"/>
            <a:ext cx="12227769" cy="6909263"/>
          </a:xfrm>
          <a:prstGeom prst="rect">
            <a:avLst/>
          </a:prstGeom>
          <a:gradFill flip="none" rotWithShape="1">
            <a:gsLst>
              <a:gs pos="0">
                <a:srgbClr val="1A5E87">
                  <a:alpha val="85000"/>
                </a:srgbClr>
              </a:gs>
              <a:gs pos="99000">
                <a:srgbClr val="04033F">
                  <a:alpha val="46000"/>
                </a:srgb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11">
            <a:extLst>
              <a:ext uri="{FF2B5EF4-FFF2-40B4-BE49-F238E27FC236}">
                <a16:creationId xmlns:a16="http://schemas.microsoft.com/office/drawing/2014/main" id="{0119A14A-C4AA-42E7-9D23-C174C794F125}"/>
              </a:ext>
            </a:extLst>
          </p:cNvPr>
          <p:cNvSpPr/>
          <p:nvPr userDrawn="1"/>
        </p:nvSpPr>
        <p:spPr>
          <a:xfrm>
            <a:off x="3635492" y="0"/>
            <a:ext cx="8592277" cy="6909262"/>
          </a:xfrm>
          <a:custGeom>
            <a:avLst/>
            <a:gdLst/>
            <a:ahLst/>
            <a:cxnLst/>
            <a:rect l="l" t="t" r="r" b="b"/>
            <a:pathLst>
              <a:path w="6444208" h="5143500">
                <a:moveTo>
                  <a:pt x="2078067" y="0"/>
                </a:moveTo>
                <a:lnTo>
                  <a:pt x="6444208" y="0"/>
                </a:lnTo>
                <a:lnTo>
                  <a:pt x="6444208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/>
              <a:cs typeface="+mn-cs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5343508-74C1-4CAA-9324-E0F7ACC404DC}"/>
              </a:ext>
            </a:extLst>
          </p:cNvPr>
          <p:cNvGrpSpPr/>
          <p:nvPr userDrawn="1"/>
        </p:nvGrpSpPr>
        <p:grpSpPr>
          <a:xfrm>
            <a:off x="3078548" y="0"/>
            <a:ext cx="3375827" cy="6909262"/>
            <a:chOff x="1531612" y="0"/>
            <a:chExt cx="3375827" cy="6858000"/>
          </a:xfrm>
        </p:grpSpPr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EE1A43F8-E422-44D5-992D-34F95D22FAD3}"/>
                </a:ext>
              </a:extLst>
            </p:cNvPr>
            <p:cNvSpPr/>
            <p:nvPr/>
          </p:nvSpPr>
          <p:spPr>
            <a:xfrm>
              <a:off x="1761297" y="0"/>
              <a:ext cx="3146142" cy="6858000"/>
            </a:xfrm>
            <a:custGeom>
              <a:avLst/>
              <a:gdLst>
                <a:gd name="connsiteX0" fmla="*/ 2770756 w 3146142"/>
                <a:gd name="connsiteY0" fmla="*/ 0 h 6858000"/>
                <a:gd name="connsiteX1" fmla="*/ 3146142 w 3146142"/>
                <a:gd name="connsiteY1" fmla="*/ 0 h 6858000"/>
                <a:gd name="connsiteX2" fmla="*/ 375386 w 3146142"/>
                <a:gd name="connsiteY2" fmla="*/ 6858000 h 6858000"/>
                <a:gd name="connsiteX3" fmla="*/ 0 w 3146142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6142" h="6858000">
                  <a:moveTo>
                    <a:pt x="2770756" y="0"/>
                  </a:moveTo>
                  <a:lnTo>
                    <a:pt x="3146142" y="0"/>
                  </a:lnTo>
                  <a:lnTo>
                    <a:pt x="375386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05EA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cs typeface="+mn-cs"/>
              </a:endParaRPr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3887ABFF-373A-45AC-961C-3E52ECA3C972}"/>
                </a:ext>
              </a:extLst>
            </p:cNvPr>
            <p:cNvSpPr/>
            <p:nvPr/>
          </p:nvSpPr>
          <p:spPr>
            <a:xfrm>
              <a:off x="1531612" y="0"/>
              <a:ext cx="3030637" cy="6858000"/>
            </a:xfrm>
            <a:custGeom>
              <a:avLst/>
              <a:gdLst>
                <a:gd name="connsiteX0" fmla="*/ 2770756 w 3030637"/>
                <a:gd name="connsiteY0" fmla="*/ 0 h 6858000"/>
                <a:gd name="connsiteX1" fmla="*/ 3030637 w 3030637"/>
                <a:gd name="connsiteY1" fmla="*/ 0 h 6858000"/>
                <a:gd name="connsiteX2" fmla="*/ 259881 w 3030637"/>
                <a:gd name="connsiteY2" fmla="*/ 6858000 h 6858000"/>
                <a:gd name="connsiteX3" fmla="*/ 0 w 3030637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0637" h="6858000">
                  <a:moveTo>
                    <a:pt x="2770756" y="0"/>
                  </a:moveTo>
                  <a:lnTo>
                    <a:pt x="3030637" y="0"/>
                  </a:lnTo>
                  <a:lnTo>
                    <a:pt x="259881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39AC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cs typeface="+mn-cs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CFA2CC2-4612-4EE2-90AB-B415538446D3}"/>
              </a:ext>
            </a:extLst>
          </p:cNvPr>
          <p:cNvGrpSpPr/>
          <p:nvPr userDrawn="1"/>
        </p:nvGrpSpPr>
        <p:grpSpPr>
          <a:xfrm>
            <a:off x="11698028" y="5577840"/>
            <a:ext cx="529752" cy="1331422"/>
            <a:chOff x="11489652" y="4991405"/>
            <a:chExt cx="753203" cy="1866596"/>
          </a:xfrm>
        </p:grpSpPr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1F3DD0C5-2670-4ACB-8EEA-1114032923F5}"/>
                </a:ext>
              </a:extLst>
            </p:cNvPr>
            <p:cNvSpPr/>
            <p:nvPr/>
          </p:nvSpPr>
          <p:spPr>
            <a:xfrm>
              <a:off x="11680176" y="5504185"/>
              <a:ext cx="562679" cy="1353816"/>
            </a:xfrm>
            <a:custGeom>
              <a:avLst/>
              <a:gdLst>
                <a:gd name="connsiteX0" fmla="*/ 339228 w 339228"/>
                <a:gd name="connsiteY0" fmla="*/ 0 h 839635"/>
                <a:gd name="connsiteX1" fmla="*/ 339228 w 339228"/>
                <a:gd name="connsiteY1" fmla="*/ 839635 h 839635"/>
                <a:gd name="connsiteX2" fmla="*/ 0 w 339228"/>
                <a:gd name="connsiteY2" fmla="*/ 839635 h 839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9228" h="839635">
                  <a:moveTo>
                    <a:pt x="339228" y="0"/>
                  </a:moveTo>
                  <a:lnTo>
                    <a:pt x="339228" y="839635"/>
                  </a:lnTo>
                  <a:lnTo>
                    <a:pt x="0" y="839635"/>
                  </a:lnTo>
                  <a:close/>
                </a:path>
              </a:pathLst>
            </a:custGeom>
            <a:solidFill>
              <a:srgbClr val="005EA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cs typeface="+mn-cs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FCF5B2F3-93A4-4991-88B8-BA9B1260FF42}"/>
                </a:ext>
              </a:extLst>
            </p:cNvPr>
            <p:cNvSpPr/>
            <p:nvPr userDrawn="1"/>
          </p:nvSpPr>
          <p:spPr>
            <a:xfrm>
              <a:off x="11489652" y="4991405"/>
              <a:ext cx="753193" cy="1866596"/>
            </a:xfrm>
            <a:custGeom>
              <a:avLst/>
              <a:gdLst>
                <a:gd name="connsiteX0" fmla="*/ 702346 w 702346"/>
                <a:gd name="connsiteY0" fmla="*/ 0 h 1738401"/>
                <a:gd name="connsiteX1" fmla="*/ 702346 w 702346"/>
                <a:gd name="connsiteY1" fmla="*/ 428827 h 1738401"/>
                <a:gd name="connsiteX2" fmla="*/ 173254 w 702346"/>
                <a:gd name="connsiteY2" fmla="*/ 1738401 h 1738401"/>
                <a:gd name="connsiteX3" fmla="*/ 0 w 702346"/>
                <a:gd name="connsiteY3" fmla="*/ 1738401 h 1738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2346" h="1738401">
                  <a:moveTo>
                    <a:pt x="702346" y="0"/>
                  </a:moveTo>
                  <a:lnTo>
                    <a:pt x="702346" y="428827"/>
                  </a:lnTo>
                  <a:lnTo>
                    <a:pt x="173254" y="1738401"/>
                  </a:lnTo>
                  <a:lnTo>
                    <a:pt x="0" y="1738401"/>
                  </a:lnTo>
                  <a:close/>
                </a:path>
              </a:pathLst>
            </a:custGeom>
            <a:solidFill>
              <a:srgbClr val="039ACF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4660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352F6E0D-B311-4712-8F24-91A3096F0870}"/>
              </a:ext>
            </a:extLst>
          </p:cNvPr>
          <p:cNvGrpSpPr/>
          <p:nvPr userDrawn="1"/>
        </p:nvGrpSpPr>
        <p:grpSpPr>
          <a:xfrm>
            <a:off x="-61453" y="-11151"/>
            <a:ext cx="12314904" cy="6909263"/>
            <a:chOff x="-61453" y="-11151"/>
            <a:chExt cx="12314904" cy="6909263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D92EA381-98CE-4E3C-8594-B586B31CE7C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2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5926"/>
            <a:stretch/>
          </p:blipFill>
          <p:spPr>
            <a:xfrm>
              <a:off x="-61452" y="-11151"/>
              <a:ext cx="12314903" cy="6909263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56EBF749-5D8A-4207-A71B-B45DCF2D05AF}"/>
                </a:ext>
              </a:extLst>
            </p:cNvPr>
            <p:cNvSpPr/>
            <p:nvPr userDrawn="1"/>
          </p:nvSpPr>
          <p:spPr>
            <a:xfrm>
              <a:off x="-61453" y="0"/>
              <a:ext cx="12314903" cy="6898112"/>
            </a:xfrm>
            <a:prstGeom prst="rect">
              <a:avLst/>
            </a:prstGeom>
            <a:gradFill flip="none" rotWithShape="1">
              <a:gsLst>
                <a:gs pos="0">
                  <a:srgbClr val="1A5E87"/>
                </a:gs>
                <a:gs pos="100000">
                  <a:srgbClr val="04033F">
                    <a:alpha val="80000"/>
                  </a:srgb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82510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F082F2DE-06D9-4DB3-AEC1-7F3AFADA1C83}"/>
              </a:ext>
            </a:extLst>
          </p:cNvPr>
          <p:cNvGrpSpPr/>
          <p:nvPr userDrawn="1"/>
        </p:nvGrpSpPr>
        <p:grpSpPr>
          <a:xfrm>
            <a:off x="394159" y="310888"/>
            <a:ext cx="682341" cy="539179"/>
            <a:chOff x="1801006" y="1526207"/>
            <a:chExt cx="1242672" cy="981947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879BAAD-D596-4660-850C-986DA00828E2}"/>
                </a:ext>
              </a:extLst>
            </p:cNvPr>
            <p:cNvSpPr/>
            <p:nvPr userDrawn="1"/>
          </p:nvSpPr>
          <p:spPr>
            <a:xfrm>
              <a:off x="2224301" y="1732937"/>
              <a:ext cx="819377" cy="695740"/>
            </a:xfrm>
            <a:prstGeom prst="rect">
              <a:avLst/>
            </a:prstGeom>
            <a:solidFill>
              <a:srgbClr val="89DF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" name="任意多边形 13">
              <a:extLst>
                <a:ext uri="{FF2B5EF4-FFF2-40B4-BE49-F238E27FC236}">
                  <a16:creationId xmlns:a16="http://schemas.microsoft.com/office/drawing/2014/main" id="{6E0A6764-AB13-4A78-B49D-46CD59722C15}"/>
                </a:ext>
              </a:extLst>
            </p:cNvPr>
            <p:cNvSpPr/>
            <p:nvPr userDrawn="1"/>
          </p:nvSpPr>
          <p:spPr>
            <a:xfrm>
              <a:off x="1801006" y="1526207"/>
              <a:ext cx="1063935" cy="981947"/>
            </a:xfrm>
            <a:custGeom>
              <a:avLst/>
              <a:gdLst>
                <a:gd name="connsiteX0" fmla="*/ 0 w 2864941"/>
                <a:gd name="connsiteY0" fmla="*/ 0 h 981947"/>
                <a:gd name="connsiteX1" fmla="*/ 2864941 w 2864941"/>
                <a:gd name="connsiteY1" fmla="*/ 0 h 981947"/>
                <a:gd name="connsiteX2" fmla="*/ 2041802 w 2864941"/>
                <a:gd name="connsiteY2" fmla="*/ 981947 h 981947"/>
                <a:gd name="connsiteX3" fmla="*/ 0 w 2864941"/>
                <a:gd name="connsiteY3" fmla="*/ 981947 h 98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4941" h="981947">
                  <a:moveTo>
                    <a:pt x="0" y="0"/>
                  </a:moveTo>
                  <a:lnTo>
                    <a:pt x="2864941" y="0"/>
                  </a:lnTo>
                  <a:lnTo>
                    <a:pt x="2041802" y="981947"/>
                  </a:lnTo>
                  <a:lnTo>
                    <a:pt x="0" y="981947"/>
                  </a:lnTo>
                  <a:close/>
                </a:path>
              </a:pathLst>
            </a:custGeom>
            <a:solidFill>
              <a:srgbClr val="005AA6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8089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5163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1002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geonexus_dotav2_contact_sheet_16x9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geonexus_route_progression_16x9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geonexus_method_framework_16x9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geonexus_dota2_baseline_lollipop_16x9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nd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Band 3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8C1515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58368" y="1325880"/>
            <a:ext cx="969264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4000" b="1">
                <a:solidFill>
                  <a:srgbClr val="8C1515"/>
                </a:solidFill>
                <a:latin typeface="Aptos"/>
              </a:rPr>
              <a:t>GeoNexus-RSD</a:t>
            </a:r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85800" y="2176272"/>
            <a:ext cx="9966960" cy="5943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000" b="1">
                <a:solidFill>
                  <a:srgbClr val="1F2937"/>
                </a:solidFill>
                <a:latin typeface="Aptos"/>
              </a:rPr>
              <a:t>Hierarchy- and Context-Aware Vision-Language Prompting for Oriented Remote Sensing Detection</a:t>
            </a:r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713232" y="3063240"/>
            <a:ext cx="47548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800">
                <a:solidFill>
                  <a:srgbClr val="334155"/>
                </a:solidFill>
                <a:latin typeface="Aptos"/>
              </a:rPr>
              <a:t>Progress report | DOTA2 first, DIOR-R validation</a:t>
            </a:r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713232" y="4251960"/>
            <a:ext cx="4754880" cy="8686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1800" b="1">
                <a:solidFill>
                  <a:srgbClr val="1F2937"/>
                </a:solidFill>
                <a:latin typeface="Aptos"/>
              </a:rPr>
              <a:t>Dinghao Li</a:t>
            </a:r>
            <a:endParaRPr lang="en-US"/>
          </a:p>
          <a:p>
            <a:r>
              <a:rPr lang="en-US" sz="1500">
                <a:solidFill>
                  <a:srgbClr val="475569"/>
                </a:solidFill>
                <a:latin typeface="Aptos"/>
              </a:rPr>
              <a:t>Xi'an Jiaotong University</a:t>
            </a:r>
            <a:endParaRPr lang="en-US"/>
          </a:p>
          <a:p>
            <a:r>
              <a:rPr lang="en-US" sz="1500">
                <a:solidFill>
                  <a:srgbClr val="475569"/>
                </a:solidFill>
                <a:latin typeface="Aptos"/>
              </a:rPr>
              <a:t>June 13, 2026</a:t>
            </a:r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6400800" y="1417320"/>
            <a:ext cx="466344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2000" b="1">
                <a:solidFill>
                  <a:srgbClr val="8C1515"/>
                </a:solidFill>
                <a:latin typeface="Aptos"/>
              </a:rPr>
              <a:t>Current Status</a:t>
            </a:r>
            <a:endParaRPr lang="en-US"/>
          </a:p>
          <a:p>
            <a:pPr marL="285750" indent="-171450">
              <a:buChar char="•"/>
            </a:pPr>
            <a:r>
              <a:rPr lang="en-US" sz="1700">
                <a:solidFill>
                  <a:srgbClr val="1F2937"/>
                </a:solidFill>
                <a:latin typeface="Aptos"/>
              </a:rPr>
              <a:t>DOTA2 S1 improves over RoI Transformer S0.</a:t>
            </a:r>
            <a:endParaRPr lang="en-US"/>
          </a:p>
          <a:p>
            <a:pPr marL="285750" indent="-171450">
              <a:buChar char="•"/>
            </a:pPr>
            <a:r>
              <a:rPr lang="en-US" sz="1700">
                <a:solidFill>
                  <a:srgbClr val="1F2937"/>
                </a:solidFill>
                <a:latin typeface="Aptos"/>
              </a:rPr>
              <a:t>S2 shows repeatable early-checkpoint gain, but final checkpoints are unstable.</a:t>
            </a:r>
            <a:endParaRPr lang="en-US"/>
          </a:p>
          <a:p>
            <a:pPr marL="285750" indent="-171450">
              <a:buChar char="•"/>
            </a:pPr>
            <a:r>
              <a:rPr lang="en-US" sz="1700">
                <a:solidFill>
                  <a:srgbClr val="1F2937"/>
                </a:solidFill>
                <a:latin typeface="Aptos"/>
              </a:rPr>
              <a:t>DIOR-R sanitized route is active with S1 replicas and S2 metrics pending.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nd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8C151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600" b="1">
                <a:solidFill>
                  <a:srgbClr val="8C1515"/>
                </a:solidFill>
                <a:latin typeface="Aptos"/>
              </a:rPr>
              <a:t>Contents</a:t>
            </a:r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8778240" y="493776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1000">
                <a:solidFill>
                  <a:srgbClr val="64748B"/>
                </a:solidFill>
                <a:latin typeface="Aptos"/>
              </a:rPr>
              <a:t>GeoNexus-RSD Progress</a:t>
            </a:r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38912" y="96012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1400">
                <a:solidFill>
                  <a:srgbClr val="475569"/>
                </a:solidFill>
                <a:latin typeface="Aptos"/>
              </a:rPr>
              <a:t>Advisor/group progress report structure</a:t>
            </a:r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822960" y="1417320"/>
            <a:ext cx="914400" cy="6400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2200" b="1">
                <a:solidFill>
                  <a:srgbClr val="8C1515"/>
                </a:solidFill>
                <a:latin typeface="Aptos"/>
              </a:rPr>
              <a:t>01</a:t>
            </a:r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920240" y="1417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200" b="1">
                <a:solidFill>
                  <a:srgbClr val="1F2937"/>
                </a:solidFill>
                <a:latin typeface="Aptos"/>
              </a:rPr>
              <a:t>Intro</a:t>
            </a:r>
            <a:endParaRPr lang="en-US"/>
          </a:p>
          <a:p>
            <a:r>
              <a:rPr lang="en-US" sz="1400">
                <a:solidFill>
                  <a:srgbClr val="475569"/>
                </a:solidFill>
                <a:latin typeface="Aptos"/>
              </a:rPr>
              <a:t>Problem and current GeoNexus-RSD route</a:t>
            </a:r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822960" y="2468880"/>
            <a:ext cx="914400" cy="6400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2200" b="1">
                <a:solidFill>
                  <a:srgbClr val="8C1515"/>
                </a:solidFill>
                <a:latin typeface="Aptos"/>
              </a:rPr>
              <a:t>02</a:t>
            </a:r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920240" y="246888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200" b="1">
                <a:solidFill>
                  <a:srgbClr val="1F2937"/>
                </a:solidFill>
                <a:latin typeface="Aptos"/>
              </a:rPr>
              <a:t>Related Work</a:t>
            </a:r>
            <a:endParaRPr lang="en-US"/>
          </a:p>
          <a:p>
            <a:r>
              <a:rPr lang="en-US" sz="1400">
                <a:solidFill>
                  <a:srgbClr val="475569"/>
                </a:solidFill>
                <a:latin typeface="Aptos"/>
              </a:rPr>
              <a:t>Oriented detectors and RS vision-language prompting</a:t>
            </a:r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822960" y="3520440"/>
            <a:ext cx="914400" cy="6400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2200" b="1">
                <a:solidFill>
                  <a:srgbClr val="8C1515"/>
                </a:solidFill>
                <a:latin typeface="Aptos"/>
              </a:rPr>
              <a:t>03</a:t>
            </a:r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920240" y="352044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200" b="1">
                <a:solidFill>
                  <a:srgbClr val="1F2937"/>
                </a:solidFill>
                <a:latin typeface="Aptos"/>
              </a:rPr>
              <a:t>Method</a:t>
            </a:r>
            <a:endParaRPr lang="en-US"/>
          </a:p>
          <a:p>
            <a:r>
              <a:rPr lang="en-US" sz="1400">
                <a:solidFill>
                  <a:srgbClr val="475569"/>
                </a:solidFill>
                <a:latin typeface="Aptos"/>
              </a:rPr>
              <a:t>Framework, prompt bank, regularization, adapters</a:t>
            </a:r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822960" y="4572000"/>
            <a:ext cx="914400" cy="6400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2200" b="1">
                <a:solidFill>
                  <a:srgbClr val="8C1515"/>
                </a:solidFill>
                <a:latin typeface="Aptos"/>
              </a:rPr>
              <a:t>04</a:t>
            </a:r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920240" y="457200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200" b="1">
                <a:solidFill>
                  <a:srgbClr val="1F2937"/>
                </a:solidFill>
                <a:latin typeface="Aptos"/>
              </a:rPr>
              <a:t>Experiments</a:t>
            </a:r>
            <a:endParaRPr lang="en-US"/>
          </a:p>
          <a:p>
            <a:r>
              <a:rPr lang="en-US" sz="1400">
                <a:solidFill>
                  <a:srgbClr val="475569"/>
                </a:solidFill>
                <a:latin typeface="Aptos"/>
              </a:rPr>
              <a:t>DOTA2 and DIOR-R progress with current risks</a:t>
            </a:r>
            <a:endParaRPr lang="en-US"/>
          </a:p>
        </p:txBody>
      </p:sp>
      <p:sp>
        <p:nvSpPr>
          <p:cNvPr id="980" name="TextBox 980"/>
          <p:cNvSpPr txBox="1"/>
          <p:nvPr/>
        </p:nvSpPr>
        <p:spPr>
          <a:xfrm>
            <a:off x="10771632" y="64922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800">
                <a:solidFill>
                  <a:srgbClr val="1F2937"/>
                </a:solidFill>
                <a:latin typeface="Aptos"/>
              </a:rPr>
              <a:t/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nd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8C151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600" b="1">
                <a:solidFill>
                  <a:srgbClr val="8C1515"/>
                </a:solidFill>
                <a:latin typeface="Aptos"/>
              </a:rPr>
              <a:t>Intro: Oriented Detection Challenge</a:t>
            </a:r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8778240" y="493776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1000">
                <a:solidFill>
                  <a:srgbClr val="64748B"/>
                </a:solidFill>
                <a:latin typeface="Aptos"/>
              </a:rPr>
              <a:t>GeoNexus-RSD Progress</a:t>
            </a:r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38912" y="96012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1400">
                <a:solidFill>
                  <a:srgbClr val="475569"/>
                </a:solidFill>
                <a:latin typeface="Aptos"/>
              </a:rPr>
              <a:t>Remote sensing detection remains sensitive to scale, rotation, density, and class granularity.</a:t>
            </a:r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640080" y="1325880"/>
            <a:ext cx="466344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2000" b="1">
                <a:solidFill>
                  <a:srgbClr val="8C1515"/>
                </a:solidFill>
                <a:latin typeface="Aptos"/>
              </a:rPr>
              <a:t>Why this setting is hard</a:t>
            </a:r>
            <a:endParaRPr lang="en-US"/>
          </a:p>
          <a:p>
            <a:pPr marL="285750" indent="-171450">
              <a:buChar char="•"/>
            </a:pPr>
            <a:r>
              <a:rPr lang="en-US" sz="1700">
                <a:solidFill>
                  <a:srgbClr val="1F2937"/>
                </a:solidFill>
                <a:latin typeface="Aptos"/>
              </a:rPr>
              <a:t>Objects appear at arbitrary orientations and large scale ranges.</a:t>
            </a:r>
            <a:endParaRPr lang="en-US"/>
          </a:p>
          <a:p>
            <a:pPr marL="285750" indent="-171450">
              <a:buChar char="•"/>
            </a:pPr>
            <a:r>
              <a:rPr lang="en-US" sz="1700">
                <a:solidFill>
                  <a:srgbClr val="1F2937"/>
                </a:solidFill>
                <a:latin typeface="Aptos"/>
              </a:rPr>
              <a:t>Fine-grained categories share similar textures and layouts.</a:t>
            </a:r>
            <a:endParaRPr lang="en-US"/>
          </a:p>
          <a:p>
            <a:pPr marL="285750" indent="-171450">
              <a:buChar char="•"/>
            </a:pPr>
            <a:r>
              <a:rPr lang="en-US" sz="1700">
                <a:solidFill>
                  <a:srgbClr val="1F2937"/>
                </a:solidFill>
                <a:latin typeface="Aptos"/>
              </a:rPr>
              <a:t>Dense scenes make proposal assignment and pseudo-label quality brittle.</a:t>
            </a:r>
            <a:endParaRPr lang="en-US"/>
          </a:p>
          <a:p>
            <a:pPr marL="285750" indent="-171450">
              <a:buChar char="•"/>
            </a:pPr>
            <a:r>
              <a:rPr lang="en-US" sz="1700">
                <a:solidFill>
                  <a:srgbClr val="1F2937"/>
                </a:solidFill>
                <a:latin typeface="Aptos"/>
              </a:rPr>
              <a:t>DOTA2 is now the formal benchmark route; DOTA v1.5 remains archive/debug evidence.</a:t>
            </a:r>
            <a:endParaRPr lang="en-US"/>
          </a:p>
        </p:txBody>
      </p:sp>
      <p:pic>
        <p:nvPicPr>
          <p:cNvPr id="11" name="dotav2_contact_sheet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234440"/>
            <a:ext cx="5394960" cy="3035808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5897880" y="4526280"/>
            <a:ext cx="4754880" cy="5943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334155"/>
                </a:solidFill>
                <a:latin typeface="Aptos"/>
              </a:rPr>
              <a:t>Visual goal: improve prompt-aware oriented detection without over-claiming open-vocabulary behavior.</a:t>
            </a:r>
            <a:endParaRPr lang="en-US"/>
          </a:p>
        </p:txBody>
      </p:sp>
      <p:sp>
        <p:nvSpPr>
          <p:cNvPr id="980" name="TextBox 980"/>
          <p:cNvSpPr txBox="1"/>
          <p:nvPr/>
        </p:nvSpPr>
        <p:spPr>
          <a:xfrm>
            <a:off x="10771632" y="64922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800">
                <a:solidFill>
                  <a:srgbClr val="1F2937"/>
                </a:solidFill>
                <a:latin typeface="Aptos"/>
              </a:rPr>
              <a:t/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nd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8C151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600" b="1">
                <a:solidFill>
                  <a:srgbClr val="8C1515"/>
                </a:solidFill>
                <a:latin typeface="Aptos"/>
              </a:rPr>
              <a:t>Intro: GeoNexus-RSD Route</a:t>
            </a:r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8778240" y="493776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1000">
                <a:solidFill>
                  <a:srgbClr val="64748B"/>
                </a:solidFill>
                <a:latin typeface="Aptos"/>
              </a:rPr>
              <a:t>GeoNexus-RSD Progress</a:t>
            </a:r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38912" y="96012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1400">
                <a:solidFill>
                  <a:srgbClr val="475569"/>
                </a:solidFill>
                <a:latin typeface="Aptos"/>
              </a:rPr>
              <a:t>The current route is staged: stabilize detector evidence first, then reopen pseudo-label/context extensions.</a:t>
            </a:r>
            <a:endParaRPr lang="en-US"/>
          </a:p>
        </p:txBody>
      </p:sp>
      <p:pic>
        <p:nvPicPr>
          <p:cNvPr id="10" name="route_progression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5394960" cy="3035808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355080" y="1261872"/>
            <a:ext cx="448056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2000" b="1">
                <a:solidFill>
                  <a:srgbClr val="8C1515"/>
                </a:solidFill>
                <a:latin typeface="Aptos"/>
              </a:rPr>
              <a:t>Current gate</a:t>
            </a:r>
            <a:endParaRPr lang="en-US"/>
          </a:p>
          <a:p>
            <a:pPr marL="285750" indent="-171450">
              <a:buChar char="•"/>
            </a:pPr>
            <a:r>
              <a:rPr lang="en-US" sz="1700">
                <a:solidFill>
                  <a:srgbClr val="1F2937"/>
                </a:solidFill>
                <a:latin typeface="Aptos"/>
              </a:rPr>
              <a:t>DOTA2 S0 and S1 are completed and archived.</a:t>
            </a:r>
            <a:endParaRPr lang="en-US"/>
          </a:p>
          <a:p>
            <a:pPr marL="285750" indent="-171450">
              <a:buChar char="•"/>
            </a:pPr>
            <a:r>
              <a:rPr lang="en-US" sz="1700">
                <a:solidFill>
                  <a:srgbClr val="1F2937"/>
                </a:solidFill>
                <a:latin typeface="Aptos"/>
              </a:rPr>
              <a:t>S2 loss-0 has repeatable early-checkpoint improvement but unstable final checkpoints.</a:t>
            </a:r>
            <a:endParaRPr lang="en-US"/>
          </a:p>
          <a:p>
            <a:pPr marL="285750" indent="-171450">
              <a:buChar char="•"/>
            </a:pPr>
            <a:r>
              <a:rPr lang="en-US" sz="1700">
                <a:solidFill>
                  <a:srgbClr val="1F2937"/>
                </a:solidFill>
                <a:latin typeface="Aptos"/>
              </a:rPr>
              <a:t>DIOR-R sanitized S0 and S1 are available; S2 hierarchy replicas have clean startup and pending metrics.</a:t>
            </a:r>
            <a:endParaRPr lang="en-US"/>
          </a:p>
          <a:p>
            <a:pPr marL="285750" indent="-171450">
              <a:buChar char="•"/>
            </a:pPr>
            <a:r>
              <a:rPr lang="en-US" sz="1700">
                <a:solidFill>
                  <a:srgbClr val="1F2937"/>
                </a:solidFill>
                <a:latin typeface="Aptos"/>
              </a:rPr>
              <a:t>S3/S4, pseudo-label purification, FAIR1M, and routing stay paused.</a:t>
            </a:r>
            <a:endParaRPr lang="en-US"/>
          </a:p>
        </p:txBody>
      </p:sp>
      <p:sp>
        <p:nvSpPr>
          <p:cNvPr id="980" name="TextBox 980"/>
          <p:cNvSpPr txBox="1"/>
          <p:nvPr/>
        </p:nvSpPr>
        <p:spPr>
          <a:xfrm>
            <a:off x="10771632" y="64922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800">
                <a:solidFill>
                  <a:srgbClr val="1F2937"/>
                </a:solidFill>
                <a:latin typeface="Aptos"/>
              </a:rPr>
              <a:t/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nd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8C151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600" b="1">
                <a:solidFill>
                  <a:srgbClr val="8C1515"/>
                </a:solidFill>
                <a:latin typeface="Aptos"/>
              </a:rPr>
              <a:t>Related Work: Detector and VLM Context</a:t>
            </a:r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8778240" y="493776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1000">
                <a:solidFill>
                  <a:srgbClr val="64748B"/>
                </a:solidFill>
                <a:latin typeface="Aptos"/>
              </a:rPr>
              <a:t>GeoNexus-RSD Progress</a:t>
            </a:r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38912" y="96012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1400">
                <a:solidFill>
                  <a:srgbClr val="475569"/>
                </a:solidFill>
                <a:latin typeface="Aptos"/>
              </a:rPr>
              <a:t>We position GeoNexus against oriented detection baselines and recent RS prompt/OVD work.</a:t>
            </a:r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594360" y="1234440"/>
            <a:ext cx="507492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2000" b="1">
                <a:solidFill>
                  <a:srgbClr val="8C1515"/>
                </a:solidFill>
                <a:latin typeface="Aptos"/>
              </a:rPr>
              <a:t>Detector backbone</a:t>
            </a:r>
            <a:endParaRPr lang="en-US"/>
          </a:p>
          <a:p>
            <a:pPr marL="285750" indent="-171450">
              <a:buChar char="•"/>
            </a:pPr>
            <a:r>
              <a:rPr lang="en-US" sz="1700">
                <a:solidFill>
                  <a:srgbClr val="1F2937"/>
                </a:solidFill>
                <a:latin typeface="Aptos"/>
              </a:rPr>
              <a:t>RoI Transformer is the main controlled oriented detector for DOTA2 and DIOR-R.</a:t>
            </a:r>
            <a:endParaRPr lang="en-US"/>
          </a:p>
          <a:p>
            <a:pPr marL="285750" indent="-171450">
              <a:buChar char="•"/>
            </a:pPr>
            <a:r>
              <a:rPr lang="en-US" sz="1700">
                <a:solidFill>
                  <a:srgbClr val="1F2937"/>
                </a:solidFill>
                <a:latin typeface="Aptos"/>
              </a:rPr>
              <a:t>ORCNN and Rotated RetinaNet remain useful DIOR-R comparison baselines, but RoI Transformer currently leads.</a:t>
            </a:r>
            <a:endParaRPr lang="en-US"/>
          </a:p>
          <a:p>
            <a:pPr marL="285750" indent="-171450">
              <a:buChar char="•"/>
            </a:pPr>
            <a:r>
              <a:rPr lang="en-US" sz="1700">
                <a:solidFill>
                  <a:srgbClr val="1F2937"/>
                </a:solidFill>
                <a:latin typeface="Aptos"/>
              </a:rPr>
              <a:t>Evaluation uses DOTA-style mAP/AP50; best and final checkpoints are reported separately.</a:t>
            </a:r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5989320" y="1234440"/>
            <a:ext cx="507492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2000" b="1">
                <a:solidFill>
                  <a:srgbClr val="8C1515"/>
                </a:solidFill>
                <a:latin typeface="Aptos"/>
              </a:rPr>
              <a:t>Vision-language references</a:t>
            </a:r>
            <a:endParaRPr lang="en-US"/>
          </a:p>
          <a:p>
            <a:pPr marL="285750" indent="-171450">
              <a:buChar char="•"/>
            </a:pPr>
            <a:r>
              <a:rPr lang="en-US" sz="1700">
                <a:solidFill>
                  <a:srgbClr val="1F2937"/>
                </a:solidFill>
                <a:latin typeface="Aptos"/>
              </a:rPr>
              <a:t>OpenRSD motivates open-prompt alignment for remote sensing detection.</a:t>
            </a:r>
            <a:endParaRPr lang="en-US"/>
          </a:p>
          <a:p>
            <a:pPr marL="285750" indent="-171450">
              <a:buChar char="•"/>
            </a:pPr>
            <a:r>
              <a:rPr lang="en-US" sz="1700">
                <a:solidFill>
                  <a:srgbClr val="1F2937"/>
                </a:solidFill>
                <a:latin typeface="Aptos"/>
              </a:rPr>
              <a:t>RemoteCLIP is used as the project VLM embedding source.</a:t>
            </a:r>
            <a:endParaRPr lang="en-US"/>
          </a:p>
          <a:p>
            <a:pPr marL="285750" indent="-171450">
              <a:buChar char="•"/>
            </a:pPr>
            <a:r>
              <a:rPr lang="en-US" sz="1700">
                <a:solidFill>
                  <a:srgbClr val="1F2937"/>
                </a:solidFill>
                <a:latin typeface="Aptos"/>
              </a:rPr>
              <a:t>RS-MPOD, DisDop, SOAR, and VK-Det inform future prompt, distillation, and pseudo-label ideas.</a:t>
            </a:r>
            <a:endParaRPr lang="en-US"/>
          </a:p>
        </p:txBody>
      </p:sp>
      <p:sp>
        <p:nvSpPr>
          <p:cNvPr id="980" name="TextBox 980"/>
          <p:cNvSpPr txBox="1"/>
          <p:nvPr/>
        </p:nvSpPr>
        <p:spPr>
          <a:xfrm>
            <a:off x="10771632" y="64922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800">
                <a:solidFill>
                  <a:srgbClr val="1F2937"/>
                </a:solidFill>
                <a:latin typeface="Aptos"/>
              </a:rPr>
              <a:t/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nd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8C151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600" b="1">
                <a:solidFill>
                  <a:srgbClr val="8C1515"/>
                </a:solidFill>
                <a:latin typeface="Aptos"/>
              </a:rPr>
              <a:t>Related Work: Project Gap</a:t>
            </a:r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8778240" y="493776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1000">
                <a:solidFill>
                  <a:srgbClr val="64748B"/>
                </a:solidFill>
                <a:latin typeface="Aptos"/>
              </a:rPr>
              <a:t>GeoNexus-RSD Progress</a:t>
            </a:r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38912" y="96012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1400">
                <a:solidFill>
                  <a:srgbClr val="475569"/>
                </a:solidFill>
                <a:latin typeface="Aptos"/>
              </a:rPr>
              <a:t>Adjacent methods motivate the direction, but current claims must match implemented and measured modules.</a:t>
            </a:r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502920" y="1234440"/>
            <a:ext cx="1874519" cy="566928"/>
          </a:xfrm>
          <a:prstGeom prst="rect">
            <a:avLst/>
          </a:prstGeom>
          <a:solidFill>
            <a:srgbClr val="E7EEF7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400" b="1">
                <a:solidFill>
                  <a:srgbClr val="1F2937"/>
                </a:solidFill>
                <a:latin typeface="Aptos"/>
              </a:rPr>
              <a:t>Source</a:t>
            </a:r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2377439" y="1234440"/>
            <a:ext cx="3246120" cy="566928"/>
          </a:xfrm>
          <a:prstGeom prst="rect">
            <a:avLst/>
          </a:prstGeom>
          <a:solidFill>
            <a:srgbClr val="E7EEF7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400" b="1">
                <a:solidFill>
                  <a:srgbClr val="1F2937"/>
                </a:solidFill>
                <a:latin typeface="Aptos"/>
              </a:rPr>
              <a:t>Main idea</a:t>
            </a:r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5623559" y="1234440"/>
            <a:ext cx="4297680" cy="566928"/>
          </a:xfrm>
          <a:prstGeom prst="rect">
            <a:avLst/>
          </a:prstGeom>
          <a:solidFill>
            <a:srgbClr val="E7EEF7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400" b="1">
                <a:solidFill>
                  <a:srgbClr val="1F2937"/>
                </a:solidFill>
                <a:latin typeface="Aptos"/>
              </a:rPr>
              <a:t>Relation to GeoNexus-RSD</a:t>
            </a:r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9921240" y="1234440"/>
            <a:ext cx="1691640" cy="566928"/>
          </a:xfrm>
          <a:prstGeom prst="rect">
            <a:avLst/>
          </a:prstGeom>
          <a:solidFill>
            <a:srgbClr val="E7EEF7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400" b="1">
                <a:solidFill>
                  <a:srgbClr val="1F2937"/>
                </a:solidFill>
                <a:latin typeface="Aptos"/>
              </a:rPr>
              <a:t>Use now</a:t>
            </a:r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502920" y="1801368"/>
            <a:ext cx="1874519" cy="56692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OpenRSD</a:t>
            </a:r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2377439" y="1801368"/>
            <a:ext cx="3246120" cy="56692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Open prompts and alignment</a:t>
            </a:r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5623559" y="1801368"/>
            <a:ext cx="4297680" cy="56692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Reference framing for RS prompt detection</a:t>
            </a:r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9921240" y="1801368"/>
            <a:ext cx="1691640" cy="56692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Anchor</a:t>
            </a:r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502920" y="2368296"/>
            <a:ext cx="187451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RS-MPOD</a:t>
            </a:r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2377439" y="2368296"/>
            <a:ext cx="3246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Multiple prompt cues</a:t>
            </a:r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5623559" y="2368296"/>
            <a:ext cx="4297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Prompt ambiguity in aerial categories</a:t>
            </a:r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9921240" y="2368296"/>
            <a:ext cx="16916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Defer</a:t>
            </a:r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502920" y="2935224"/>
            <a:ext cx="1874519" cy="56692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SOAR / VK-Det</a:t>
            </a:r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2377439" y="2935224"/>
            <a:ext cx="3246120" cy="56692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Pseudo-label and prototype cues</a:t>
            </a:r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5623559" y="2935224"/>
            <a:ext cx="4297680" cy="56692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Relevant to planned S4 purification</a:t>
            </a:r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9921240" y="2935224"/>
            <a:ext cx="1691640" cy="56692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Paused</a:t>
            </a:r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502920" y="3502152"/>
            <a:ext cx="187451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DisDop</a:t>
            </a:r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2377439" y="3502152"/>
            <a:ext cx="3246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Domain-prior distillation</a:t>
            </a:r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5623559" y="3502152"/>
            <a:ext cx="4297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Possible future teacher-prior branch</a:t>
            </a:r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9921240" y="3502152"/>
            <a:ext cx="16916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Future</a:t>
            </a:r>
            <a:endParaRPr lang="en-US"/>
          </a:p>
        </p:txBody>
      </p:sp>
      <p:sp>
        <p:nvSpPr>
          <p:cNvPr id="40" name="TextBox 40"/>
          <p:cNvSpPr txBox="1"/>
          <p:nvPr/>
        </p:nvSpPr>
        <p:spPr>
          <a:xfrm>
            <a:off x="640080" y="4526280"/>
            <a:ext cx="10241280" cy="71323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600">
                <a:solidFill>
                  <a:srgbClr val="334155"/>
                </a:solidFill>
                <a:latin typeface="Aptos"/>
              </a:rPr>
              <a:t>Conservative gap statement: current evidence is hierarchy/prompt-aware detector progress, not a completed open-vocabulary or pseudo-label purification system.</a:t>
            </a:r>
            <a:endParaRPr lang="en-US"/>
          </a:p>
        </p:txBody>
      </p:sp>
      <p:sp>
        <p:nvSpPr>
          <p:cNvPr id="980" name="TextBox 980"/>
          <p:cNvSpPr txBox="1"/>
          <p:nvPr/>
        </p:nvSpPr>
        <p:spPr>
          <a:xfrm>
            <a:off x="10771632" y="64922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800">
                <a:solidFill>
                  <a:srgbClr val="1F2937"/>
                </a:solidFill>
                <a:latin typeface="Aptos"/>
              </a:rPr>
              <a:t/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nd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8C151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600" b="1">
                <a:solidFill>
                  <a:srgbClr val="8C1515"/>
                </a:solidFill>
                <a:latin typeface="Aptos"/>
              </a:rPr>
              <a:t>Method: Overall Framework</a:t>
            </a:r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8778240" y="493776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1000">
                <a:solidFill>
                  <a:srgbClr val="64748B"/>
                </a:solidFill>
                <a:latin typeface="Aptos"/>
              </a:rPr>
              <a:t>GeoNexus-RSD Progress</a:t>
            </a:r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38912" y="96012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1400">
                <a:solidFill>
                  <a:srgbClr val="475569"/>
                </a:solidFill>
                <a:latin typeface="Aptos"/>
              </a:rPr>
              <a:t>Existing framework asset, interpreted as the current staged pipeline rather than a final end-to-end claim.</a:t>
            </a:r>
            <a:endParaRPr lang="en-US"/>
          </a:p>
        </p:txBody>
      </p:sp>
      <p:pic>
        <p:nvPicPr>
          <p:cNvPr id="10" name="method_framework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143000"/>
            <a:ext cx="6492240" cy="36576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7360920" y="1234440"/>
            <a:ext cx="361188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900" b="1">
                <a:solidFill>
                  <a:srgbClr val="8C1515"/>
                </a:solidFill>
                <a:latin typeface="Aptos"/>
              </a:rPr>
              <a:t>Implemented / active</a:t>
            </a:r>
            <a:endParaRPr lang="en-US"/>
          </a:p>
          <a:p>
            <a:pPr marL="285750" indent="-171450">
              <a:buChar char="•"/>
            </a:pPr>
            <a:r>
              <a:rPr lang="en-US" sz="1600">
                <a:solidFill>
                  <a:srgbClr val="1F2937"/>
                </a:solidFill>
                <a:latin typeface="Aptos"/>
              </a:rPr>
              <a:t>S0: RoI Transformer baseline</a:t>
            </a:r>
            <a:endParaRPr lang="en-US"/>
          </a:p>
          <a:p>
            <a:pPr marL="285750" indent="-171450">
              <a:buChar char="•"/>
            </a:pPr>
            <a:r>
              <a:rPr lang="en-US" sz="1600">
                <a:solidFill>
                  <a:srgbClr val="1F2937"/>
                </a:solidFill>
                <a:latin typeface="Aptos"/>
              </a:rPr>
              <a:t>S1: RemoteCLIP prompt scoring</a:t>
            </a:r>
            <a:endParaRPr lang="en-US"/>
          </a:p>
          <a:p>
            <a:pPr marL="285750" indent="-171450">
              <a:buChar char="•"/>
            </a:pPr>
            <a:r>
              <a:rPr lang="en-US" sz="1600">
                <a:solidFill>
                  <a:srgbClr val="1F2937"/>
                </a:solidFill>
                <a:latin typeface="Aptos"/>
              </a:rPr>
              <a:t>S2: hierarchy regularization variants</a:t>
            </a:r>
            <a:endParaRPr lang="en-US"/>
          </a:p>
          <a:p>
            <a:r>
              <a:rPr lang="en-US" sz="1700" b="1">
                <a:solidFill>
                  <a:srgbClr val="8C1515"/>
                </a:solidFill>
                <a:latin typeface="Aptos"/>
              </a:rPr>
              <a:t>Planned / paused</a:t>
            </a:r>
            <a:endParaRPr lang="en-US"/>
          </a:p>
          <a:p>
            <a:pPr marL="285750" indent="-171450">
              <a:buChar char="•"/>
            </a:pPr>
            <a:r>
              <a:rPr lang="en-US" sz="1600">
                <a:solidFill>
                  <a:srgbClr val="1F2937"/>
                </a:solidFill>
                <a:latin typeface="Aptos"/>
              </a:rPr>
              <a:t>Context adapter and pseudo-label purification are not yet paper-facing claims.</a:t>
            </a:r>
            <a:endParaRPr lang="en-US"/>
          </a:p>
        </p:txBody>
      </p:sp>
      <p:sp>
        <p:nvSpPr>
          <p:cNvPr id="980" name="TextBox 980"/>
          <p:cNvSpPr txBox="1"/>
          <p:nvPr/>
        </p:nvSpPr>
        <p:spPr>
          <a:xfrm>
            <a:off x="10771632" y="64922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800">
                <a:solidFill>
                  <a:srgbClr val="1F2937"/>
                </a:solidFill>
                <a:latin typeface="Aptos"/>
              </a:rPr>
              <a:t/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nd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8C151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600" b="1">
                <a:solidFill>
                  <a:srgbClr val="8C1515"/>
                </a:solidFill>
                <a:latin typeface="Aptos"/>
              </a:rPr>
              <a:t>Method Key Point: Prompt Bank and Scoring</a:t>
            </a:r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8778240" y="493776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1000">
                <a:solidFill>
                  <a:srgbClr val="64748B"/>
                </a:solidFill>
                <a:latin typeface="Aptos"/>
              </a:rPr>
              <a:t>GeoNexus-RSD Progress</a:t>
            </a:r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38912" y="96012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1400">
                <a:solidFill>
                  <a:srgbClr val="475569"/>
                </a:solidFill>
                <a:latin typeface="Aptos"/>
              </a:rPr>
              <a:t>S1 uses a hierarchy-oriented prompt bank with RemoteCLIP-based prompt scoring.</a:t>
            </a:r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594360" y="1234440"/>
            <a:ext cx="498348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2000" b="1">
                <a:solidFill>
                  <a:srgbClr val="8C1515"/>
                </a:solidFill>
                <a:latin typeface="Aptos"/>
              </a:rPr>
              <a:t>Prompt bank</a:t>
            </a:r>
            <a:endParaRPr lang="en-US"/>
          </a:p>
          <a:p>
            <a:pPr marL="285750" indent="-171450">
              <a:buChar char="•"/>
            </a:pPr>
            <a:r>
              <a:rPr lang="en-US" sz="1700">
                <a:solidFill>
                  <a:srgbClr val="1F2937"/>
                </a:solidFill>
                <a:latin typeface="Aptos"/>
              </a:rPr>
              <a:t>Class prompts are organized around fine-grained RS object semantics.</a:t>
            </a:r>
            <a:endParaRPr lang="en-US"/>
          </a:p>
          <a:p>
            <a:pPr marL="285750" indent="-171450">
              <a:buChar char="•"/>
            </a:pPr>
            <a:r>
              <a:rPr lang="en-US" sz="1700">
                <a:solidFill>
                  <a:srgbClr val="1F2937"/>
                </a:solidFill>
                <a:latin typeface="Aptos"/>
              </a:rPr>
              <a:t>RemoteCLIP ViT-B/32 provides normalized prompt embeddings.</a:t>
            </a:r>
            <a:endParaRPr lang="en-US"/>
          </a:p>
          <a:p>
            <a:pPr marL="285750" indent="-171450">
              <a:buChar char="•"/>
            </a:pPr>
            <a:r>
              <a:rPr lang="en-US" sz="1700">
                <a:solidFill>
                  <a:srgbClr val="1F2937"/>
                </a:solidFill>
                <a:latin typeface="Aptos"/>
              </a:rPr>
              <a:t>The DOTA2 S2 prompt artifact validates 18 classes, finite embeddings, and an 18 x 18 relation matrix.</a:t>
            </a:r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5989320" y="1234440"/>
            <a:ext cx="498348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2000" b="1">
                <a:solidFill>
                  <a:srgbClr val="8C1515"/>
                </a:solidFill>
                <a:latin typeface="Aptos"/>
              </a:rPr>
              <a:t>Detector integration</a:t>
            </a:r>
            <a:endParaRPr lang="en-US"/>
          </a:p>
          <a:p>
            <a:pPr marL="285750" indent="-171450">
              <a:buChar char="•"/>
            </a:pPr>
            <a:r>
              <a:rPr lang="en-US" sz="1700">
                <a:solidFill>
                  <a:srgbClr val="1F2937"/>
                </a:solidFill>
                <a:latin typeface="Aptos"/>
              </a:rPr>
              <a:t>RoI Transformer remains the detector backbone for controlled comparisons.</a:t>
            </a:r>
            <a:endParaRPr lang="en-US"/>
          </a:p>
          <a:p>
            <a:pPr marL="285750" indent="-171450">
              <a:buChar char="•"/>
            </a:pPr>
            <a:r>
              <a:rPr lang="en-US" sz="1700">
                <a:solidFill>
                  <a:srgbClr val="1F2937"/>
                </a:solidFill>
                <a:latin typeface="Aptos"/>
              </a:rPr>
              <a:t>S1 tests whether prompt scoring improves the DOTA2 detector route.</a:t>
            </a:r>
            <a:endParaRPr lang="en-US"/>
          </a:p>
          <a:p>
            <a:pPr marL="285750" indent="-171450">
              <a:buChar char="•"/>
            </a:pPr>
            <a:r>
              <a:rPr lang="en-US" sz="1700">
                <a:solidFill>
                  <a:srgbClr val="1F2937"/>
                </a:solidFill>
                <a:latin typeface="Aptos"/>
              </a:rPr>
              <a:t>Main DOTA2 S1 improves from 0.6088/0.6090 to 0.6177/0.6180.</a:t>
            </a:r>
            <a:endParaRPr lang="en-US"/>
          </a:p>
        </p:txBody>
      </p:sp>
      <p:sp>
        <p:nvSpPr>
          <p:cNvPr id="980" name="TextBox 980"/>
          <p:cNvSpPr txBox="1"/>
          <p:nvPr/>
        </p:nvSpPr>
        <p:spPr>
          <a:xfrm>
            <a:off x="10771632" y="64922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800">
                <a:solidFill>
                  <a:srgbClr val="1F2937"/>
                </a:solidFill>
                <a:latin typeface="Aptos"/>
              </a:rPr>
              <a:t/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nd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8C151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600" b="1">
                <a:solidFill>
                  <a:srgbClr val="8C1515"/>
                </a:solidFill>
                <a:latin typeface="Aptos"/>
              </a:rPr>
              <a:t>Method Key Point: Regularization and Planned Modules</a:t>
            </a:r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8778240" y="493776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1000">
                <a:solidFill>
                  <a:srgbClr val="64748B"/>
                </a:solidFill>
                <a:latin typeface="Aptos"/>
              </a:rPr>
              <a:t>GeoNexus-RSD Progress</a:t>
            </a:r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38912" y="96012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1400">
                <a:solidFill>
                  <a:srgbClr val="475569"/>
                </a:solidFill>
                <a:latin typeface="Aptos"/>
              </a:rPr>
              <a:t>S2 is treated as an active stabilization question; later modules remain gated.</a:t>
            </a:r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594360" y="1207008"/>
            <a:ext cx="333756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900" b="1">
                <a:solidFill>
                  <a:srgbClr val="8C1515"/>
                </a:solidFill>
                <a:latin typeface="Aptos"/>
              </a:rPr>
              <a:t>S2 hierarchy</a:t>
            </a:r>
            <a:endParaRPr lang="en-US"/>
          </a:p>
          <a:p>
            <a:pPr marL="285750" indent="-171450">
              <a:buChar char="•"/>
            </a:pPr>
            <a:r>
              <a:rPr lang="en-US" sz="1600">
                <a:solidFill>
                  <a:srgbClr val="1F2937"/>
                </a:solidFill>
                <a:latin typeface="Aptos"/>
              </a:rPr>
              <a:t>Regularizes class relations through hierarchy-aware targets.</a:t>
            </a:r>
            <a:endParaRPr lang="en-US"/>
          </a:p>
          <a:p>
            <a:pPr marL="285750" indent="-171450">
              <a:buChar char="•"/>
            </a:pPr>
            <a:r>
              <a:rPr lang="en-US" sz="1600">
                <a:solidFill>
                  <a:srgbClr val="1F2937"/>
                </a:solidFill>
                <a:latin typeface="Aptos"/>
              </a:rPr>
              <a:t>Loss-0 ablation gives repeatable early-checkpoint gains.</a:t>
            </a:r>
            <a:endParaRPr lang="en-US"/>
          </a:p>
          <a:p>
            <a:pPr marL="285750" indent="-171450">
              <a:buChar char="•"/>
            </a:pPr>
            <a:r>
              <a:rPr lang="en-US" sz="1600">
                <a:solidFill>
                  <a:srgbClr val="1F2937"/>
                </a:solidFill>
                <a:latin typeface="Aptos"/>
              </a:rPr>
              <a:t>Final-checkpoint instability blocks stronger claims.</a:t>
            </a:r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4343400" y="1207008"/>
            <a:ext cx="333756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900" b="1">
                <a:solidFill>
                  <a:srgbClr val="8C1515"/>
                </a:solidFill>
                <a:latin typeface="Aptos"/>
              </a:rPr>
              <a:t>Context adapter</a:t>
            </a:r>
            <a:endParaRPr lang="en-US"/>
          </a:p>
          <a:p>
            <a:pPr marL="285750" indent="-171450">
              <a:buChar char="•"/>
            </a:pPr>
            <a:r>
              <a:rPr lang="en-US" sz="1600">
                <a:solidFill>
                  <a:srgbClr val="1F2937"/>
                </a:solidFill>
                <a:latin typeface="Aptos"/>
              </a:rPr>
              <a:t>Planned scene/context prompt adapter.</a:t>
            </a:r>
            <a:endParaRPr lang="en-US"/>
          </a:p>
          <a:p>
            <a:pPr marL="285750" indent="-171450">
              <a:buChar char="•"/>
            </a:pPr>
            <a:r>
              <a:rPr lang="en-US" sz="1600">
                <a:solidFill>
                  <a:srgbClr val="1F2937"/>
                </a:solidFill>
                <a:latin typeface="Aptos"/>
              </a:rPr>
              <a:t>Useful for dense ports, airports, and urban scenes.</a:t>
            </a:r>
            <a:endParaRPr lang="en-US"/>
          </a:p>
          <a:p>
            <a:pPr marL="285750" indent="-171450">
              <a:buChar char="•"/>
            </a:pPr>
            <a:r>
              <a:rPr lang="en-US" sz="1600">
                <a:solidFill>
                  <a:srgbClr val="1F2937"/>
                </a:solidFill>
                <a:latin typeface="Aptos"/>
              </a:rPr>
              <a:t>Paused until S2 and DIOR-R stability are resolved.</a:t>
            </a:r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8092440" y="1207008"/>
            <a:ext cx="333756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900" b="1">
                <a:solidFill>
                  <a:srgbClr val="8C1515"/>
                </a:solidFill>
                <a:latin typeface="Aptos"/>
              </a:rPr>
              <a:t>Pseudo-label plan</a:t>
            </a:r>
            <a:endParaRPr lang="en-US"/>
          </a:p>
          <a:p>
            <a:pPr marL="285750" indent="-171450">
              <a:buChar char="•"/>
            </a:pPr>
            <a:r>
              <a:rPr lang="en-US" sz="1600">
                <a:solidFill>
                  <a:srgbClr val="1F2937"/>
                </a:solidFill>
                <a:latin typeface="Aptos"/>
              </a:rPr>
              <a:t>Purify pseudo labels with VLM and hierarchy cues.</a:t>
            </a:r>
            <a:endParaRPr lang="en-US"/>
          </a:p>
          <a:p>
            <a:pPr marL="285750" indent="-171450">
              <a:buChar char="•"/>
            </a:pPr>
            <a:r>
              <a:rPr lang="en-US" sz="1600">
                <a:solidFill>
                  <a:srgbClr val="1F2937"/>
                </a:solidFill>
                <a:latin typeface="Aptos"/>
              </a:rPr>
              <a:t>Inspired by SOAR/VK-Det/CastDet style evidence.</a:t>
            </a:r>
            <a:endParaRPr lang="en-US"/>
          </a:p>
          <a:p>
            <a:pPr marL="285750" indent="-171450">
              <a:buChar char="•"/>
            </a:pPr>
            <a:r>
              <a:rPr lang="en-US" sz="1600">
                <a:solidFill>
                  <a:srgbClr val="1F2937"/>
                </a:solidFill>
                <a:latin typeface="Aptos"/>
              </a:rPr>
              <a:t>Not part of current paper-facing results yet.</a:t>
            </a:r>
            <a:endParaRPr lang="en-US"/>
          </a:p>
        </p:txBody>
      </p:sp>
      <p:sp>
        <p:nvSpPr>
          <p:cNvPr id="980" name="TextBox 980"/>
          <p:cNvSpPr txBox="1"/>
          <p:nvPr/>
        </p:nvSpPr>
        <p:spPr>
          <a:xfrm>
            <a:off x="10771632" y="64922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800">
                <a:solidFill>
                  <a:srgbClr val="1F2937"/>
                </a:solidFill>
                <a:latin typeface="Aptos"/>
              </a:rPr>
              <a:t/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nd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8C151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600" b="1">
                <a:solidFill>
                  <a:srgbClr val="8C1515"/>
                </a:solidFill>
                <a:latin typeface="Aptos"/>
              </a:rPr>
              <a:t>Experiments: DOTA2 Progress</a:t>
            </a:r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8778240" y="493776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1000">
                <a:solidFill>
                  <a:srgbClr val="64748B"/>
                </a:solidFill>
                <a:latin typeface="Aptos"/>
              </a:rPr>
              <a:t>GeoNexus-RSD Progress</a:t>
            </a:r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38912" y="96012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1400">
                <a:solidFill>
                  <a:srgbClr val="475569"/>
                </a:solidFill>
                <a:latin typeface="Aptos"/>
              </a:rPr>
              <a:t>DOTA2 is the primary benchmark route; S2 evidence is useful but not stable enough as a final claim.</a:t>
            </a:r>
            <a:endParaRPr lang="en-US"/>
          </a:p>
        </p:txBody>
      </p:sp>
      <p:pic>
        <p:nvPicPr>
          <p:cNvPr id="10" name="dota2_baseline_lollipop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5120640" cy="288036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5989320" y="1143000"/>
            <a:ext cx="2240280" cy="512064"/>
          </a:xfrm>
          <a:prstGeom prst="rect">
            <a:avLst/>
          </a:prstGeom>
          <a:solidFill>
            <a:srgbClr val="E7EEF7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400" b="1">
                <a:solidFill>
                  <a:srgbClr val="1F2937"/>
                </a:solidFill>
                <a:latin typeface="Aptos"/>
              </a:rPr>
              <a:t>Stage</a:t>
            </a:r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8229600" y="1143000"/>
            <a:ext cx="1508760" cy="512064"/>
          </a:xfrm>
          <a:prstGeom prst="rect">
            <a:avLst/>
          </a:prstGeom>
          <a:solidFill>
            <a:srgbClr val="E7EEF7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400" b="1">
                <a:solidFill>
                  <a:srgbClr val="1F2937"/>
                </a:solidFill>
                <a:latin typeface="Aptos"/>
              </a:rPr>
              <a:t>mAP</a:t>
            </a:r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9738360" y="1143000"/>
            <a:ext cx="1508760" cy="512064"/>
          </a:xfrm>
          <a:prstGeom prst="rect">
            <a:avLst/>
          </a:prstGeom>
          <a:solidFill>
            <a:srgbClr val="E7EEF7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400" b="1">
                <a:solidFill>
                  <a:srgbClr val="1F2937"/>
                </a:solidFill>
                <a:latin typeface="Aptos"/>
              </a:rPr>
              <a:t>AP50</a:t>
            </a:r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1247120" y="1143000"/>
            <a:ext cx="1051560" cy="512064"/>
          </a:xfrm>
          <a:prstGeom prst="rect">
            <a:avLst/>
          </a:prstGeom>
          <a:solidFill>
            <a:srgbClr val="E7EEF7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400" b="1">
                <a:solidFill>
                  <a:srgbClr val="1F2937"/>
                </a:solidFill>
                <a:latin typeface="Aptos"/>
              </a:rPr>
              <a:t>Read</a:t>
            </a:r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5989320" y="1655064"/>
            <a:ext cx="224028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S0 RoI Trans.</a:t>
            </a:r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8229600" y="1655064"/>
            <a:ext cx="150876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0.6088</a:t>
            </a:r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9738360" y="1655064"/>
            <a:ext cx="150876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0.6090</a:t>
            </a:r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1247120" y="1655064"/>
            <a:ext cx="105156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base</a:t>
            </a:r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5989320" y="2167128"/>
            <a:ext cx="22402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S1 GeoNexus</a:t>
            </a:r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8229600" y="2167128"/>
            <a:ext cx="15087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0.6177</a:t>
            </a:r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9738360" y="2167128"/>
            <a:ext cx="15087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0.6180</a:t>
            </a:r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11247120" y="2167128"/>
            <a:ext cx="10515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up</a:t>
            </a:r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5989320" y="2679192"/>
            <a:ext cx="224028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S2 best mean</a:t>
            </a:r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8229600" y="2679192"/>
            <a:ext cx="150876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0.620606</a:t>
            </a:r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9738360" y="2679192"/>
            <a:ext cx="150876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-</a:t>
            </a:r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11247120" y="2679192"/>
            <a:ext cx="105156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early</a:t>
            </a:r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5989320" y="3191256"/>
            <a:ext cx="22402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S2 final mean</a:t>
            </a:r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8229600" y="3191256"/>
            <a:ext cx="15087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0.616655</a:t>
            </a:r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9738360" y="3191256"/>
            <a:ext cx="15087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-</a:t>
            </a:r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11247120" y="3191256"/>
            <a:ext cx="10515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unstable</a:t>
            </a:r>
            <a:endParaRPr lang="en-US"/>
          </a:p>
        </p:txBody>
      </p:sp>
      <p:sp>
        <p:nvSpPr>
          <p:cNvPr id="40" name="TextBox 40"/>
          <p:cNvSpPr txBox="1"/>
          <p:nvPr/>
        </p:nvSpPr>
        <p:spPr>
          <a:xfrm>
            <a:off x="731520" y="4343400"/>
            <a:ext cx="9966960" cy="6858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334155"/>
                </a:solidFill>
                <a:latin typeface="Aptos"/>
              </a:rPr>
              <a:t>Interpretation: S1 is the clean current gain. S2 best-checkpoint behavior is repeatable, but final checkpoints fall slightly below S1 on average.</a:t>
            </a:r>
            <a:endParaRPr lang="en-US"/>
          </a:p>
        </p:txBody>
      </p:sp>
      <p:sp>
        <p:nvSpPr>
          <p:cNvPr id="980" name="TextBox 980"/>
          <p:cNvSpPr txBox="1"/>
          <p:nvPr/>
        </p:nvSpPr>
        <p:spPr>
          <a:xfrm>
            <a:off x="10771632" y="64922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800">
                <a:solidFill>
                  <a:srgbClr val="1F2937"/>
                </a:solidFill>
                <a:latin typeface="Aptos"/>
              </a:rPr>
              <a:t/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nd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8C151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600" b="1">
                <a:solidFill>
                  <a:srgbClr val="8C1515"/>
                </a:solidFill>
                <a:latin typeface="Aptos"/>
              </a:rPr>
              <a:t>Experiments: DIOR-R Sanitized Route</a:t>
            </a:r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8778240" y="493776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1000">
                <a:solidFill>
                  <a:srgbClr val="64748B"/>
                </a:solidFill>
                <a:latin typeface="Aptos"/>
              </a:rPr>
              <a:t>GeoNexus-RSD Progress</a:t>
            </a:r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38912" y="96012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1400">
                <a:solidFill>
                  <a:srgbClr val="475569"/>
                </a:solidFill>
                <a:latin typeface="Aptos"/>
              </a:rPr>
              <a:t>DIOR-R moved from non-finite detector failures to sanitized finite training and active GeoNexus replicas.</a:t>
            </a:r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502920" y="1115568"/>
            <a:ext cx="2880360" cy="530352"/>
          </a:xfrm>
          <a:prstGeom prst="rect">
            <a:avLst/>
          </a:prstGeom>
          <a:solidFill>
            <a:srgbClr val="E7EEF7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400" b="1">
                <a:solidFill>
                  <a:srgbClr val="1F2937"/>
                </a:solidFill>
                <a:latin typeface="Aptos"/>
              </a:rPr>
              <a:t>Run</a:t>
            </a:r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3383280" y="1115568"/>
            <a:ext cx="1508760" cy="530352"/>
          </a:xfrm>
          <a:prstGeom prst="rect">
            <a:avLst/>
          </a:prstGeom>
          <a:solidFill>
            <a:srgbClr val="E7EEF7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400" b="1">
                <a:solidFill>
                  <a:srgbClr val="1F2937"/>
                </a:solidFill>
                <a:latin typeface="Aptos"/>
              </a:rPr>
              <a:t>mAP</a:t>
            </a:r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4892040" y="1115568"/>
            <a:ext cx="1417320" cy="530352"/>
          </a:xfrm>
          <a:prstGeom prst="rect">
            <a:avLst/>
          </a:prstGeom>
          <a:solidFill>
            <a:srgbClr val="E7EEF7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400" b="1">
                <a:solidFill>
                  <a:srgbClr val="1F2937"/>
                </a:solidFill>
                <a:latin typeface="Aptos"/>
              </a:rPr>
              <a:t>AP50</a:t>
            </a:r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6309359" y="1115568"/>
            <a:ext cx="4160520" cy="530352"/>
          </a:xfrm>
          <a:prstGeom prst="rect">
            <a:avLst/>
          </a:prstGeom>
          <a:solidFill>
            <a:srgbClr val="E7EEF7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400" b="1">
                <a:solidFill>
                  <a:srgbClr val="1F2937"/>
                </a:solidFill>
                <a:latin typeface="Aptos"/>
              </a:rPr>
              <a:t>Status</a:t>
            </a:r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502920" y="1645919"/>
            <a:ext cx="2880360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S0 RoI Transformer</a:t>
            </a:r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3383280" y="1645919"/>
            <a:ext cx="1508760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0.6531</a:t>
            </a:r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4892040" y="1645919"/>
            <a:ext cx="1417320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0.6530</a:t>
            </a:r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6309359" y="1645919"/>
            <a:ext cx="4160520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best archived on sanitized labels</a:t>
            </a:r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502920" y="2176272"/>
            <a:ext cx="28803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S1 replica A</a:t>
            </a:r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3383280" y="2176272"/>
            <a:ext cx="15087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0.6751</a:t>
            </a:r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4892040" y="2176272"/>
            <a:ext cx="14173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0.675</a:t>
            </a:r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6309359" y="2176272"/>
            <a:ext cx="41605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completed</a:t>
            </a:r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502920" y="2706624"/>
            <a:ext cx="2880360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S1 replica B</a:t>
            </a:r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3383280" y="2706624"/>
            <a:ext cx="1508760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0.6690</a:t>
            </a:r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4892040" y="2706624"/>
            <a:ext cx="1417320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0.669</a:t>
            </a:r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6309359" y="2706624"/>
            <a:ext cx="4160520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completed</a:t>
            </a:r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502920" y="3236976"/>
            <a:ext cx="28803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S2 hierarchy replicas</a:t>
            </a:r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3383280" y="3236976"/>
            <a:ext cx="15087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pending</a:t>
            </a:r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4892040" y="3236976"/>
            <a:ext cx="14173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pending</a:t>
            </a:r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6309359" y="3236976"/>
            <a:ext cx="41605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500">
                <a:solidFill>
                  <a:srgbClr val="1F2937"/>
                </a:solidFill>
                <a:latin typeface="Aptos"/>
              </a:rPr>
              <a:t>launched with clean startup</a:t>
            </a:r>
            <a:endParaRPr lang="en-US"/>
          </a:p>
        </p:txBody>
      </p:sp>
      <p:sp>
        <p:nvSpPr>
          <p:cNvPr id="40" name="TextBox 40"/>
          <p:cNvSpPr txBox="1"/>
          <p:nvPr/>
        </p:nvSpPr>
        <p:spPr>
          <a:xfrm>
            <a:off x="640080" y="3977639"/>
            <a:ext cx="101498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1800" b="1">
                <a:solidFill>
                  <a:srgbClr val="8C1515"/>
                </a:solidFill>
                <a:latin typeface="Aptos"/>
              </a:rPr>
              <a:t>Readout</a:t>
            </a:r>
            <a:endParaRPr lang="en-US"/>
          </a:p>
          <a:p>
            <a:pPr marL="285750" indent="-171450">
              <a:buChar char="•"/>
            </a:pPr>
            <a:r>
              <a:rPr lang="en-US" sz="1600">
                <a:solidFill>
                  <a:srgbClr val="1F2937"/>
                </a:solidFill>
                <a:latin typeface="Aptos"/>
              </a:rPr>
              <a:t>Sanitization removed invalid-size records and bounded train-step diagnostics stayed finite.</a:t>
            </a:r>
            <a:endParaRPr lang="en-US"/>
          </a:p>
          <a:p>
            <a:pPr marL="285750" indent="-171450">
              <a:buChar char="•"/>
            </a:pPr>
            <a:r>
              <a:rPr lang="en-US" sz="1600">
                <a:solidFill>
                  <a:srgbClr val="1F2937"/>
                </a:solidFill>
                <a:latin typeface="Aptos"/>
              </a:rPr>
              <a:t>S1 improves over the sanitized RoI Transformer S0, but S2 hierarchy metrics are still active/pending.</a:t>
            </a:r>
            <a:endParaRPr lang="en-US"/>
          </a:p>
        </p:txBody>
      </p:sp>
      <p:sp>
        <p:nvSpPr>
          <p:cNvPr id="980" name="TextBox 980"/>
          <p:cNvSpPr txBox="1"/>
          <p:nvPr/>
        </p:nvSpPr>
        <p:spPr>
          <a:xfrm>
            <a:off x="10771632" y="64922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800">
                <a:solidFill>
                  <a:srgbClr val="1F2937"/>
                </a:solidFill>
                <a:latin typeface="Aptos"/>
              </a:rPr>
              <a:t/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nd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8C151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40080" y="914400"/>
            <a:ext cx="9875520" cy="5943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3000" b="1">
                <a:solidFill>
                  <a:srgbClr val="8C1515"/>
                </a:solidFill>
                <a:latin typeface="Aptos"/>
              </a:rPr>
              <a:t>Summary and Next Steps</a:t>
            </a:r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685800" y="1874519"/>
            <a:ext cx="333756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2000" b="1">
                <a:solidFill>
                  <a:srgbClr val="8C1515"/>
                </a:solidFill>
                <a:latin typeface="Aptos"/>
              </a:rPr>
              <a:t>Completed</a:t>
            </a:r>
            <a:endParaRPr lang="en-US"/>
          </a:p>
          <a:p>
            <a:pPr marL="285750" indent="-171450">
              <a:buChar char="•"/>
            </a:pPr>
            <a:r>
              <a:rPr lang="en-US" sz="1600">
                <a:solidFill>
                  <a:srgbClr val="1F2937"/>
                </a:solidFill>
                <a:latin typeface="Aptos"/>
              </a:rPr>
              <a:t>DOTA2 S0/S1 archived.</a:t>
            </a:r>
            <a:endParaRPr lang="en-US"/>
          </a:p>
          <a:p>
            <a:pPr marL="285750" indent="-171450">
              <a:buChar char="•"/>
            </a:pPr>
            <a:r>
              <a:rPr lang="en-US" sz="1600">
                <a:solidFill>
                  <a:srgbClr val="1F2937"/>
                </a:solidFill>
                <a:latin typeface="Aptos"/>
              </a:rPr>
              <a:t>DOTA2 S2 loss-0 stability analyzed.</a:t>
            </a:r>
            <a:endParaRPr lang="en-US"/>
          </a:p>
          <a:p>
            <a:pPr marL="285750" indent="-171450">
              <a:buChar char="•"/>
            </a:pPr>
            <a:r>
              <a:rPr lang="en-US" sz="1600">
                <a:solidFill>
                  <a:srgbClr val="1F2937"/>
                </a:solidFill>
                <a:latin typeface="Aptos"/>
              </a:rPr>
              <a:t>DIOR-R sanitized S0/S1 evidence available.</a:t>
            </a:r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4434840" y="1874519"/>
            <a:ext cx="333756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2000" b="1">
                <a:solidFill>
                  <a:srgbClr val="8C1515"/>
                </a:solidFill>
                <a:latin typeface="Aptos"/>
              </a:rPr>
              <a:t>Risks</a:t>
            </a:r>
            <a:endParaRPr lang="en-US"/>
          </a:p>
          <a:p>
            <a:pPr marL="285750" indent="-171450">
              <a:buChar char="•"/>
            </a:pPr>
            <a:r>
              <a:rPr lang="en-US" sz="1600">
                <a:solidFill>
                  <a:srgbClr val="1F2937"/>
                </a:solidFill>
                <a:latin typeface="Aptos"/>
              </a:rPr>
              <a:t>S2 final checkpoints remain unstable.</a:t>
            </a:r>
            <a:endParaRPr lang="en-US"/>
          </a:p>
          <a:p>
            <a:pPr marL="285750" indent="-171450">
              <a:buChar char="•"/>
            </a:pPr>
            <a:r>
              <a:rPr lang="en-US" sz="1600">
                <a:solidFill>
                  <a:srgbClr val="1F2937"/>
                </a:solidFill>
                <a:latin typeface="Aptos"/>
              </a:rPr>
              <a:t>DIOR-R S2 metrics are pending.</a:t>
            </a:r>
            <a:endParaRPr lang="en-US"/>
          </a:p>
          <a:p>
            <a:pPr marL="285750" indent="-171450">
              <a:buChar char="•"/>
            </a:pPr>
            <a:r>
              <a:rPr lang="en-US" sz="1600">
                <a:solidFill>
                  <a:srgbClr val="1F2937"/>
                </a:solidFill>
                <a:latin typeface="Aptos"/>
              </a:rPr>
              <a:t>Pseudo-label and context modules are not yet measured.</a:t>
            </a:r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8183879" y="1874519"/>
            <a:ext cx="333756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2000" b="1">
                <a:solidFill>
                  <a:srgbClr val="8C1515"/>
                </a:solidFill>
                <a:latin typeface="Aptos"/>
              </a:rPr>
              <a:t>Next</a:t>
            </a:r>
            <a:endParaRPr lang="en-US"/>
          </a:p>
          <a:p>
            <a:pPr marL="285750" indent="-171450">
              <a:buChar char="•"/>
            </a:pPr>
            <a:r>
              <a:rPr lang="en-US" sz="1600">
                <a:solidFill>
                  <a:srgbClr val="1F2937"/>
                </a:solidFill>
                <a:latin typeface="Aptos"/>
              </a:rPr>
              <a:t>Archive DIOR-R S2 best/final metrics separately.</a:t>
            </a:r>
            <a:endParaRPr lang="en-US"/>
          </a:p>
          <a:p>
            <a:pPr marL="285750" indent="-171450">
              <a:buChar char="•"/>
            </a:pPr>
            <a:r>
              <a:rPr lang="en-US" sz="1600">
                <a:solidFill>
                  <a:srgbClr val="1F2937"/>
                </a:solidFill>
                <a:latin typeface="Aptos"/>
              </a:rPr>
              <a:t>Decide whether S2 is best-checkpoint evidence or stays diagnostic.</a:t>
            </a:r>
            <a:endParaRPr lang="en-US"/>
          </a:p>
          <a:p>
            <a:pPr marL="285750" indent="-171450">
              <a:buChar char="•"/>
            </a:pPr>
            <a:r>
              <a:rPr lang="en-US" sz="1600">
                <a:solidFill>
                  <a:srgbClr val="1F2937"/>
                </a:solidFill>
                <a:latin typeface="Aptos"/>
              </a:rPr>
              <a:t>Only then reopen context adapter and pseudo-label purification.</a:t>
            </a:r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308537;#267802;#184255;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6325</TotalTime>
  <Words>580</Words>
  <Application>Microsoft Office PowerPoint</Application>
  <PresentationFormat>宽屏</PresentationFormat>
  <Paragraphs>81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Palatino</vt:lpstr>
      <vt:lpstr>Stencil</vt:lpstr>
      <vt:lpstr>等线</vt:lpstr>
      <vt:lpstr>黑体</vt:lpstr>
      <vt:lpstr>华文宋体</vt:lpstr>
      <vt:lpstr>思源黑体 CN Bold</vt:lpstr>
      <vt:lpstr>思源黑体 CN Normal</vt:lpstr>
      <vt:lpstr>思源黑体 CN Regular</vt:lpstr>
      <vt:lpstr>宋体</vt:lpstr>
      <vt:lpstr>微软雅黑</vt:lpstr>
      <vt:lpstr>Arial</vt:lpstr>
      <vt:lpstr>Arial Black</vt:lpstr>
      <vt:lpstr>Calibri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董洋</dc:creator>
  <cp:lastModifiedBy>Taniaq</cp:lastModifiedBy>
  <cp:revision>419</cp:revision>
  <dcterms:created xsi:type="dcterms:W3CDTF">2020-08-21T00:34:25Z</dcterms:created>
  <dcterms:modified xsi:type="dcterms:W3CDTF">2021-09-07T09:31:08Z</dcterms:modified>
</cp:coreProperties>
</file>